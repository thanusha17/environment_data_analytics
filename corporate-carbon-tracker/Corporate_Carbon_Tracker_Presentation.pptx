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7AE60"/>
                </a:solidFill>
              </a:defRPr>
            </a:pPr>
            <a:r>
              <a:t>SEM-7 BIG DATA ANALYTICS (BDA) — TASK EDA-1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Corporate Carbon Footprint Tracker</a:t>
            </a:r>
          </a:p>
          <a:p>
            <a:pPr>
              <a:spcAft>
                <a:spcPts val="2800"/>
              </a:spcAft>
              <a:defRPr sz="1600">
                <a:solidFill>
                  <a:srgbClr val="C8D7EB"/>
                </a:solidFill>
              </a:defRPr>
            </a:pPr>
            <a:r>
              <a:t>Audited Multi-Scope Emissions Tracking, Supervised Machine Learning,</a:t>
            </a:r>
            <a:br/>
            <a:r>
              <a:t>Time-Series Forecasting &amp; Corporate Climate Pledge Accountability</a:t>
            </a:r>
          </a:p>
          <a:p>
            <a:pPr>
              <a:defRPr sz="1200">
                <a:solidFill>
                  <a:srgbClr val="A0B9D7"/>
                </a:solidFill>
              </a:defRPr>
            </a:pPr>
            <a:r>
              <a:t>Deliverables 1 &amp; 2 Complete  |  65 Corporations  |  16 Economic Sectors  |  FY2019–FY2023 Audited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Context: The Corporate Climate Accountability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1. The Greenwashing Dilemma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Over 80% of Fortune 500 corporations market aggressive 'Net-Zero' or 'Carbon-Neutral' commitments.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Corporate self-reporting often conceals operational reality behind unverified carbon offsets and vague timelines.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Investors, regulators, and consumers lack empirical tools to audit whether emissions cuts are real or rhetoric.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2. The Big Data Challenge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Carbon accounting spans 3 distinct reporting scopes: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- Scope 1: Direct facility combustion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- Scope 2: Purchased grid electricity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- Scope 3: Upstream &amp; downstream supply chain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Data is highly fragmented across SEC 10-K filings, ESG PDFs, and sustainability indices with severe unit inconsistencies.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3. Project Scope &amp; Solution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Audited 65 major corporations across 16 diverse economic sectors (313 company-years, FY2019–2023).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Standardized carbon intensity (tCO2e per USD million revenue) to enable fair cross-sector comparison.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Engineered machine learning models to classify intensity tiers, forecast trajectories, and audit voluntary pledges.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ARCHITECTURE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Core Project Features &amp; Four-Module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Module 1: EDA &amp; Feature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Audited 313 company-years across 65 firms &amp; 16 sectors.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Right-skewness analysis, log-normalizations, and Scope 3 leverage ratios.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Engineered 9 standardized predictive features with sector-adjusted tertiles (`Low`, `Moderate`, `High`).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Module 2: Supervised Carbon Intensity Classification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Benchmarked 5 distinct ML algorithms (Random Forest, XGBoost, SVM, KNN, Logistic Regression).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Strict out-of-time evaluation protocol (Train: 2019–2022, Test: 2023).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Achieved 64.6% Test Accuracy and 0.824 Multi-Class ROC-AUC.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Module 3: Time Series Emissions Forecasting (2024–2030)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Backtested 4 time-series paradigms on FY2023 (CAGR Baseline won with 7.22% MAPE).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Projected Scope 1+2 emissions for 65 companies through 2030 (455 company-years).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Assessed SBTi 1.5°C 50% reduction target (43.1% On-Track vs 56.9% Off-Track).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Module 4: Pledge vs. Actual Reality Gap Analysis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Audited public net-zero pledges across 20 bellwether corporations.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Contrasted required annual decarbonization pace vs. actual delivered progress.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Discovered the Big Tech AI paradox and mapped corporate greenwashing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TECHNOLOGY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Enterprise Technology Stack, Libraries &amp;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Data Pipeline &amp; Ingestion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Python 3.11: Primary language runtime.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Pandas 2.3.3 &amp; NumPy 1.26.4: Panel data manipulation and matrix algebra.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SEC EDGAR API: Direct programmatic ingestion of official 10-K audited annual revenues.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Automated Unit Normalizer: Standardizing imperial short tons, grams, and MWh into metric tonnes CO2e.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Machine Learning &amp; Forecasting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Scikit-Learn 1.2.2: ColumnTransformer pipelines, Logistic Regression, Random Forest, SVC, KNN, GridSearchCV.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XGBoost 3.2.0: Gradient-boosted decision trees with multiclass log-loss objective.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Statsmodels 0.14.0: Autoregressive Integrated Moving Average (ARIMA) &amp; Holt Damped Trend smoothing.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Threadpoolctl 3.7.0: Thread-safe OpenMP runtime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Visualization &amp; Governance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Matplotlib &amp; Seaborn: Publication-grade 300 DPI visualizations.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Streamlit 1.30.0: Interactive web dashboard for real-time scenario modeling.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Git &amp; GitHub: Distributed version control with verified multi-contributor workflow.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JupyterLab / nbconvert: Reproducible notebook execution in-place.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1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Deliverable 1: Audited ESG Big Data Extraction &amp;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Dataset Architecture &amp; Provenance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Target Universe: 65 global corporate bellwethers spanning 16 economic sectors.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Coverage Window: 5 consecutive fiscal years (FY2019 to FY2023) yielding 313 company-years.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Total Emissions Tracked: Over 2.5 Billion tonnes of CO2e.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Zero Synthetic Imputation: 100% of data points trace directly to primary SEC EDGAR 10-K filings and GRI/CDP sustainability reports.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Audited Financial Normalization: Revenues extracted from official SEC financial tables in USD millions.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Boundary Standardization: Operational control and financial control boundaries harmonized.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Sectors Covered (16 Diverse Sectors)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1. Technology (Apple, Microsoft, Google, Amazon, Meta, NVIDIA, Intel, etc.)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2. Energy (ExxonMobil, Chevron, ConocoPhillips, Marathon, Valero)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3. Utilities (NextEra Energy, Duke, Southern Co, Dominion, Exelon)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4. Automotive (Ford, GM, Tesla)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5. Healthcare &amp; Pharma (J&amp;J, Pfizer, Merck, AbbVie, CVS, UnitedHealth)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6. Finance &amp; Banking (JPMorgan, BofA, Goldman Sachs, Citi, Wells Fargo)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7. Industrials (GE, Caterpillar, Honeywell, Lockheed Martin, 3M)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8. Aerospace &amp; Defense (Boeing, Northrop Grumman, RTX)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9. Retail, Consumer Staples, Real Estate, Transportation, Mining, Materials.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1: Exploratory Data Analysis &amp; Feature Engineering</a:t>
            </a:r>
          </a:p>
        </p:txBody>
      </p:sp>
      <p:pic>
        <p:nvPicPr>
          <p:cNvPr id="5" name="Picture 4" descr="01_univariat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657600"/>
          </a:xfrm>
          <a:prstGeom prst="rect">
            <a:avLst/>
          </a:prstGeom>
        </p:spPr>
      </p:pic>
      <p:pic>
        <p:nvPicPr>
          <p:cNvPr id="6" name="Picture 5" descr="06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3982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Key Empirical Findings from Module 1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Extreme Right Skewness: Raw Scope 1 emissions exhibit skewness of +6.18, successfully normalized via log transformation.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Multicollinearity Diagnosis: Strong Pearson correlation (r = 0.82) between Scope 1 and total emissions; revenue scales linearly with Scope 2.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Feature Matrix Output: Exported `features.csv` (9 engineered features) and `labels.csv` (balanced tertiles: High 111, Mod 103, Low 99).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1: Cross-Sector Benchmarking &amp; Scope 3 Leverage</a:t>
            </a:r>
          </a:p>
        </p:txBody>
      </p:sp>
      <p:pic>
        <p:nvPicPr>
          <p:cNvPr id="5" name="Picture 4" descr="02_sector_intensit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926080"/>
          </a:xfrm>
          <a:prstGeom prst="rect">
            <a:avLst/>
          </a:prstGeom>
        </p:spPr>
      </p:pic>
      <p:pic>
        <p:nvPicPr>
          <p:cNvPr id="6" name="Picture 5" descr="05_scope3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Sector Intensity Divergence &amp; Scope 3 Value-Chain Dominance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Sector Spread: Utilities median intensity exceeds 1,200 tCO2e/$M vs Finance at &lt; 1.5 tCO2e/$M (nearly 1,000x difference).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Scope 3 Value-Chain Iceberg: In Tech and Retail, Scope 3 accounts for 75%–90% of complete carbon footprints.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Sector-Adjusted Tertiles: Target tiers defined within sectors, preventing utilities from monopolizing 'High' and tech 'Low'.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2: Supervised Machine Learning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Experimental Rigor &amp; Protocol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Classification Problem: Predict corporate intensity tier (`Low`, `Moderate`, `High`).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Zero Target Leakage: Raw intensity and sector medians are strictly excluded from predictors.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Temporal Split: Trained on FY2019–FY2022 (248 rows), evaluated on FY2023 (65 rows).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Random Guess Baseline: 33.3% accuracy.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Benchmark Results (FY2023 Forward Horizon):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1. Random Forest:  64.6% Accuracy | 0.640 Macro F1 | 0.824 ROC-AUC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2. SVM (RBF):      63.1% Accuracy | 0.587 Macro F1 | 0.797 ROC-AUC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3. XGBoost:        61.5% Accuracy | 0.598 Macro F1 | 0.804 ROC-AUC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4. KNN (k=5):      56.9% Accuracy | 0.512 Macro F1 | 0.751 ROC-AUC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5. Logistic Reg.:  55.4% Accuracy | 0.435 Macro F1 | 0.815 ROC-AUC</a:t>
            </a:r>
          </a:p>
        </p:txBody>
      </p:sp>
      <p:pic>
        <p:nvPicPr>
          <p:cNvPr id="7" name="Picture 6" descr="04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807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2: Diagnostics, ROC Curves &amp; Feature Importance</a:t>
            </a:r>
          </a:p>
        </p:txBody>
      </p:sp>
      <p:pic>
        <p:nvPicPr>
          <p:cNvPr id="5" name="Picture 4" descr="01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05751"/>
          </a:xfrm>
          <a:prstGeom prst="rect">
            <a:avLst/>
          </a:prstGeom>
        </p:spPr>
      </p:pic>
      <p:pic>
        <p:nvPicPr>
          <p:cNvPr id="6" name="Picture 5" descr="03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4722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Model Interpretability &amp; Feature Attribution Insights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Confusion Analysis: Tree ensembles cleanly separate Low from High tiers; errors occur predominantly at adjacent Moderate boundaries.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Primary Predictive Drivers: `log_scope1` and `log_revenue` drive the majority of tree splits, proving scale and combustion dictate tiering.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Secondary Signals: `scope1_share` and `scope3_ratio` serve as key intra-sector discriminators between moderate and high intensity peers.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3: Emissions Trend Forecasting (2024–2030)</a:t>
            </a:r>
          </a:p>
        </p:txBody>
      </p:sp>
      <p:pic>
        <p:nvPicPr>
          <p:cNvPr id="5" name="Picture 4" descr="01_model_backte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1928327"/>
          </a:xfrm>
          <a:prstGeom prst="rect">
            <a:avLst/>
          </a:prstGeom>
        </p:spPr>
      </p:pic>
      <p:pic>
        <p:nvPicPr>
          <p:cNvPr id="6" name="Picture 5" descr="02_sector_forecast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859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Out-of-Sample Forecasting Backtest (FY2023 Ground Truth)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Model Selection: Bounded CAGR Baseline achieved lowest error (**7.22% MAPE**, MAE = 365k tCO2e), beating Holt Damped Trend (9.18%).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Forward Projection: Generated Scope 1+2 emissions for 65 corporations across 7 forward years (2024–2030, 455 company-years).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Trajectory Decoupling: Utilities show steady decarbonization via coal retirements, while Tech emissions accelerate upward.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3: Net-Zero 2030 Target Alignment &amp; Gap Analysis</a:t>
            </a:r>
          </a:p>
        </p:txBody>
      </p:sp>
      <p:pic>
        <p:nvPicPr>
          <p:cNvPr id="5" name="Picture 4" descr="03_netzero_ga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119124"/>
          </a:xfrm>
          <a:prstGeom prst="rect">
            <a:avLst/>
          </a:prstGeom>
        </p:spPr>
      </p:pic>
      <p:pic>
        <p:nvPicPr>
          <p:cNvPr id="6" name="Picture 5" descr="04_top_companies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8649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SBTi 1.5°C 50% Reduction Commitment: On-Track vs Off-Track Reality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Global Status: Only **43.1% (28/65) On-Track**; **56.9% (37/65) Off-Track / Facing Deficit** under current operational momentum.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Sector Polarization: Finance is 100% On-Track, whereas Energy, Mining, and Transportation are 0% On-Track.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Bellwether Tracking: Apple &amp; NextEra Energy are on track for aggressive cuts; Amazon &amp; Exxon face massive multi-megaton deficits.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4: Corporate Climate Pledge vs. Actual Reality</a:t>
            </a:r>
          </a:p>
        </p:txBody>
      </p:sp>
      <p:pic>
        <p:nvPicPr>
          <p:cNvPr id="5" name="Picture 4" descr="01_pledge_gap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381120"/>
          </a:xfrm>
          <a:prstGeom prst="rect">
            <a:avLst/>
          </a:prstGeom>
        </p:spPr>
      </p:pic>
      <p:pic>
        <p:nvPicPr>
          <p:cNvPr id="6" name="Picture 5" descr="02_pledge_vs_actual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8649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Empirical Auditing of 20 Voluntary Corporate Climate Targets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Accountability Tiers: Only **15% (3/20) On-Track** (Bank of America, Prologis, Intel); **50% (10/20) in Severe Deficit**.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Implied Decarbonization Rate: A 2030 Net-Zero pledge requires a staggering 18.9%–20.6% annual compound cut in operational emissions.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Reality Gap: Google, Amazon, and Meta show annual emissions *expansion*, creating widening deficits between promises and reality.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DELIVERABLE 2 —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4: The Big Tech Paradox &amp; Greenwashing Risk Matrix</a:t>
            </a:r>
          </a:p>
        </p:txBody>
      </p:sp>
      <p:pic>
        <p:nvPicPr>
          <p:cNvPr id="5" name="Picture 4" descr="04_greenwashing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658936"/>
          </a:xfrm>
          <a:prstGeom prst="rect">
            <a:avLst/>
          </a:prstGeom>
        </p:spPr>
      </p:pic>
      <p:pic>
        <p:nvPicPr>
          <p:cNvPr id="6" name="Picture 5" descr="03_sector_pledge_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753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6070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Strategic Quadrant Analysis: Climate Credibility vs. Greenwashing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Quadrant I (Genuine Leaders): High ambition paired with high execution (Bank of America, Prologis, Intel, Meta ops).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Quadrant IV (Credibility / Greenwashing Risk): Alphabet (+39.8%/yr growth), Amazon (+10.8%/yr), Apple (+2.7%/yr) pledge 2030 net-zero but face surging data center load.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Pragmatic Long-Horizon Firms: Ford, GM, and ExxonMobil set 2050 dates, requiring modest annual cuts (7%–10%/yr) yielding lower gap scores.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LIVE APPLICATION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Interactive Streamlit Carbon Intelligence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1. Executive Overview Tab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KPI Banner: Total emissions tracked (2.5B+ tCO2e), average intensity (87.4 tCO2e/$M), sector breakdown.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Interactive sector distribution boxplots with log-scale toggling.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Top 10 highest &amp; lowest carbon intensity corporate leaderboards.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2. Corporate Deep-Dive Tab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Single-company selector across all 65 corporations.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Historical multi-scope stacked area charts (Scope 1, Scope 2 Market, Scope 3).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Decarbonization progress tracker vs FY2019 baseline.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Data provenance cards linking directly to SEC 10-K filings.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3. Forecasting &amp; Pledge Tab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Dynamic 2024–2030 scenario projections.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Real-time SBTi 50% target threshold comparison.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Pledge gap deficit calculator showing on-track status, absolute metric tonnes gap, and greenwashing risk quadrant.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7AE60"/>
                </a:solidFill>
              </a:defRPr>
            </a:pPr>
            <a:r>
              <a:t>CONCLUSIONS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 Project Outcomes, Academic Conclusions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Key Project Milestones Achieved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1. Audited Big Data Foundation: Built an uncompromised 65-company, 16-sector dataset with 100% provenance and 0 synthetic data.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2. Robust ML Classification: Solved multi-class intensity classification with 64.6% accuracy and 0.824 ROC-AUC using Random Forest on out-of-time test data.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3. Empirical Forecasting: Projected emissions through 2030 with 7.22% backtest MAPE, revealing that 56.9% of corporations are off-track for Paris targets.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4. Public Accountability: Demonstrated that Big Tech voluntary 2030 net-zero pledges conflict directly with AI data center electricity demand growth.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5. Production Pipeline: Completely containerized in 4 Jupyter notebooks, 18 publication-quality figures, and 7 clean CSV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</a:defRPr>
            </a:pPr>
            <a:r>
              <a:t>Academic &amp; Practical Implications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For Investors &amp; ESG Funds: Provides an empirical, data-driven framework to separate genuine decarbonizers from greenwashing marketing.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For Regulators (SEC / EU CSRD): Demonstrates the critical necessity of mandatory audited Scope 1, 2, and 3 reporting standards.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Future Enhancements: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- Automated SEC EDGAR XBRL scrapers for continuous real-time annual updates.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- Scope 3 Category 1–15 granular supply chain decomposition.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  - Integration of satellite remote sensing data (e.g. MethaneSAT) for methane plume verification in energy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